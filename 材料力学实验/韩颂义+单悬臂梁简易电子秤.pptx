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3" r:id="rId3"/>
    <p:sldId id="307" r:id="rId5"/>
    <p:sldId id="257" r:id="rId6"/>
    <p:sldId id="258" r:id="rId7"/>
    <p:sldId id="339" r:id="rId8"/>
    <p:sldId id="259" r:id="rId9"/>
    <p:sldId id="260" r:id="rId10"/>
    <p:sldId id="261" r:id="rId11"/>
    <p:sldId id="338" r:id="rId12"/>
    <p:sldId id="336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5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55A0"/>
    <a:srgbClr val="D8E2F0"/>
    <a:srgbClr val="12498C"/>
    <a:srgbClr val="133B7B"/>
    <a:srgbClr val="3780E1"/>
    <a:srgbClr val="1863BE"/>
    <a:srgbClr val="BCA0A0"/>
    <a:srgbClr val="F4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04" autoAdjust="0"/>
  </p:normalViewPr>
  <p:slideViewPr>
    <p:cSldViewPr snapToGrid="0" showGuides="1">
      <p:cViewPr varScale="1">
        <p:scale>
          <a:sx n="68" d="100"/>
          <a:sy n="68" d="100"/>
        </p:scale>
        <p:origin x="168" y="51"/>
      </p:cViewPr>
      <p:guideLst>
        <p:guide orient="horz" pos="2160"/>
        <p:guide pos="65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开场说明：本实验题目是悬臂梁式简易电子秤的设计、制作与标定。我们把材料力学中悬臂梁弯曲应变的理论，应用到一个可以实际称重的装置里。后面主要按四个部分讲：实验目标和分工、测量原理、结构设计与标定方法、最终结果和误差分析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这一页是目录页，先让老师知道汇报结构。我们会依次介绍实验目标和分工、测量原理、结构设计与标定方法、结果误差和最后的成果总结。目录页不展开讲，主要起到过渡作用。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先交代我们做的是什么以及小组分工。本实验不是单纯做理论计算，而是完整搭建一个测量系统：悬臂梁负责把质量载荷转化为弯曲变形，应变片和惠斯登全桥负责把应变转化为电信号，最后通过标定把读数换算成质量。三位成员分别负责方案分析、贴片接线调试、数据采集和误差分析等工作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为什么贴四个应变片：</a:t>
            </a:r>
            <a:endParaRPr lang="zh-CN" altLang="zh-CN" dirty="0"/>
          </a:p>
          <a:p>
            <a:r>
              <a:rPr lang="zh-CN" altLang="zh-CN" dirty="0"/>
              <a:t>贴四个是为了组成“全桥”。每个截面上、下表面各贴一片，因为悬臂梁弯曲时，上表面和下表面一个受拉、一个受压，应变符号相反。通过全桥接线，可以让这两个相反应变在电桥输出中变成同向叠加，从而提高灵敏度。</a:t>
            </a:r>
            <a:endParaRPr lang="zh-CN" altLang="zh-CN" dirty="0"/>
          </a:p>
          <a:p>
            <a:r>
              <a:rPr lang="zh-CN" altLang="zh-CN" dirty="0"/>
              <a:t>同时，四个应变片都作为工作片接入电桥，温度变化、导线电阻变化等对四个桥臂影响近似相同，会在差动输出中相互抵消，所以能起到温度补偿和减小零点漂移的作用。</a:t>
            </a:r>
            <a:endParaRPr lang="zh-CN" altLang="zh-CN" dirty="0"/>
          </a:p>
          <a:p>
            <a:r>
              <a:rPr lang="zh-CN" altLang="zh-CN" dirty="0"/>
              <a:t>另外，论文里不是只在一个截面贴上下两片，而是在 </a:t>
            </a:r>
            <a:r>
              <a:rPr lang="zh-CN" altLang="zh-CN" sz="1200" kern="1200" dirty="0"/>
              <a:t>x1=40mm</a:t>
            </a:r>
            <a:r>
              <a:rPr lang="zh-CN" altLang="zh-CN" dirty="0"/>
              <a:t> 和 </a:t>
            </a:r>
            <a:r>
              <a:rPr lang="zh-CN" altLang="zh-CN" sz="1200" kern="1200" dirty="0"/>
              <a:t>x2=160mm</a:t>
            </a:r>
            <a:r>
              <a:rPr lang="zh-CN" altLang="zh-CN" dirty="0"/>
              <a:t> 两个截面各贴上下两片。这样可以利用两个位置的弯矩/应变差：</a:t>
            </a:r>
            <a:endParaRPr lang="zh-CN" altLang="zh-CN" dirty="0"/>
          </a:p>
          <a:p>
            <a:r>
              <a:rPr lang="zh-CN" altLang="zh-CN" dirty="0"/>
              <a:t>\[ \varepsilon(x_1)-\varepsilon(x_2) \]</a:t>
            </a:r>
            <a:endParaRPr lang="zh-CN" altLang="zh-CN" dirty="0"/>
          </a:p>
          <a:p>
            <a:r>
              <a:rPr lang="zh-CN" altLang="zh-CN" dirty="0"/>
              <a:t>其中载荷作用位置 \(a\) 的影响会被部分抵消，所以能减小加载位置变化对结果的影响。简短答辩说法就是：</a:t>
            </a:r>
            <a:endParaRPr lang="zh-CN" altLang="zh-CN" dirty="0"/>
          </a:p>
          <a:p>
            <a:r>
              <a:rPr lang="zh-CN" altLang="zh-CN" dirty="0"/>
              <a:t>“贴四片是为了组成全桥：一方面让上下表面的拉压应变叠加，提高输出灵敏度；另一方面抵消温度等共同干扰；同时两个截面差动布置还能减小加载位置变化对称量结果的影响。”</a:t>
            </a: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为什么贴四个应变片：</a:t>
            </a:r>
            <a:endParaRPr lang="zh-CN" altLang="zh-CN" dirty="0"/>
          </a:p>
          <a:p>
            <a:r>
              <a:rPr lang="zh-CN" altLang="zh-CN" dirty="0"/>
              <a:t>贴四个是为了组成“全桥”。每个截面上、下表面各贴一片，因为悬臂梁弯曲时，上表面和下表面一个受拉、一个受压，应变符号相反。通过全桥接线，可以让这两个相反应变在电桥输出中变成同向叠加，从而提高灵敏度。</a:t>
            </a:r>
            <a:endParaRPr lang="zh-CN" altLang="zh-CN" dirty="0"/>
          </a:p>
          <a:p>
            <a:r>
              <a:rPr lang="zh-CN" altLang="zh-CN" dirty="0"/>
              <a:t>同时，四个应变片都作为工作片接入电桥，温度变化、导线电阻变化等对四个桥臂影响近似相同，会在差动输出中相互抵消，所以能起到温度补偿和减小零点漂移的作用。</a:t>
            </a:r>
            <a:endParaRPr lang="zh-CN" altLang="zh-CN" dirty="0"/>
          </a:p>
          <a:p>
            <a:r>
              <a:rPr lang="zh-CN" altLang="zh-CN" dirty="0"/>
              <a:t>另外，论文里不是只在一个截面贴上下两片，而是在 </a:t>
            </a:r>
            <a:r>
              <a:rPr lang="zh-CN" altLang="zh-CN" sz="1200" kern="1200" dirty="0"/>
              <a:t>x1=40mm</a:t>
            </a:r>
            <a:r>
              <a:rPr lang="zh-CN" altLang="zh-CN" dirty="0"/>
              <a:t> 和 </a:t>
            </a:r>
            <a:r>
              <a:rPr lang="zh-CN" altLang="zh-CN" sz="1200" kern="1200" dirty="0"/>
              <a:t>x2=160mm</a:t>
            </a:r>
            <a:r>
              <a:rPr lang="zh-CN" altLang="zh-CN" dirty="0"/>
              <a:t> 两个截面各贴上下两片。这样可以利用两个位置的弯矩/应变差：</a:t>
            </a:r>
            <a:endParaRPr lang="zh-CN" altLang="zh-CN" dirty="0"/>
          </a:p>
          <a:p>
            <a:r>
              <a:rPr lang="zh-CN" altLang="zh-CN" dirty="0"/>
              <a:t>\[ \varepsilon(x_1)-\varepsilon(x_2) \]</a:t>
            </a:r>
            <a:endParaRPr lang="zh-CN" altLang="zh-CN" dirty="0"/>
          </a:p>
          <a:p>
            <a:r>
              <a:rPr lang="zh-CN" altLang="zh-CN" dirty="0"/>
              <a:t>其中载荷作用位置 \(a\) 的影响会被部分抵消，所以能减小加载位置变化对结果的影响。简短答辩说法就是：</a:t>
            </a:r>
            <a:endParaRPr lang="zh-CN" altLang="zh-CN" dirty="0"/>
          </a:p>
          <a:p>
            <a:r>
              <a:rPr lang="zh-CN" altLang="zh-CN" dirty="0"/>
              <a:t>“贴四片是为了组成全桥：一方面让上下表面的拉压应变叠加，提高输出灵敏度；另一方面抵消温度等共同干扰；同时两个截面差动布置还能减小加载位置变化对称量结果的影响。”</a:t>
            </a: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这一页讲结构设计和量程。弹性元件采用 </a:t>
            </a:r>
            <a:r>
              <a:rPr lang="en-US" altLang="zh-CN" dirty="0"/>
              <a:t>40CrNiMoA </a:t>
            </a:r>
            <a:r>
              <a:rPr lang="zh-CN" altLang="en-US" dirty="0"/>
              <a:t>弹簧钢矩形梁，有效力臂为 </a:t>
            </a:r>
            <a:r>
              <a:rPr lang="en-US" altLang="zh-CN" dirty="0"/>
              <a:t>320 mm</a:t>
            </a:r>
            <a:r>
              <a:rPr lang="zh-CN" altLang="en-US" dirty="0"/>
              <a:t>，截面尺寸为 </a:t>
            </a:r>
            <a:r>
              <a:rPr lang="en-US" altLang="zh-CN" dirty="0"/>
              <a:t>30 mm </a:t>
            </a:r>
            <a:r>
              <a:rPr lang="zh-CN" altLang="en-US" dirty="0"/>
              <a:t>乘 </a:t>
            </a:r>
            <a:r>
              <a:rPr lang="en-US" altLang="zh-CN" dirty="0"/>
              <a:t>4 mm</a:t>
            </a:r>
            <a:r>
              <a:rPr lang="zh-CN" altLang="en-US" dirty="0"/>
              <a:t>。贴片位置选择 </a:t>
            </a:r>
            <a:r>
              <a:rPr lang="en-US" altLang="zh-CN" dirty="0"/>
              <a:t>x1=40 mm </a:t>
            </a:r>
            <a:r>
              <a:rPr lang="zh-CN" altLang="en-US" dirty="0"/>
              <a:t>和 </a:t>
            </a:r>
            <a:r>
              <a:rPr lang="en-US" altLang="zh-CN" dirty="0"/>
              <a:t>x2=160 mm</a:t>
            </a:r>
            <a:r>
              <a:rPr lang="zh-CN" altLang="en-US" dirty="0"/>
              <a:t>，在两个截面上下表面各贴一片，组成全桥。强度校核得到理论最大质量约 </a:t>
            </a:r>
            <a:r>
              <a:rPr lang="en-US" altLang="zh-CN" dirty="0"/>
              <a:t>10 kg</a:t>
            </a:r>
            <a:r>
              <a:rPr lang="zh-CN" altLang="en-US" dirty="0"/>
              <a:t>，但实际标定数据覆盖到 </a:t>
            </a:r>
            <a:r>
              <a:rPr lang="en-US" altLang="zh-CN" dirty="0"/>
              <a:t>8 kg</a:t>
            </a:r>
            <a:r>
              <a:rPr lang="zh-CN" altLang="en-US" dirty="0"/>
              <a:t>，所以精度评价采用 </a:t>
            </a:r>
            <a:r>
              <a:rPr lang="en-US" altLang="zh-CN" dirty="0"/>
              <a:t>0 </a:t>
            </a:r>
            <a:r>
              <a:rPr lang="zh-CN" altLang="en-US" dirty="0"/>
              <a:t>到 </a:t>
            </a:r>
            <a:r>
              <a:rPr lang="en-US" altLang="zh-CN" dirty="0"/>
              <a:t>8 kg </a:t>
            </a:r>
            <a:r>
              <a:rPr lang="zh-CN" altLang="en-US" dirty="0"/>
              <a:t>作为有效量程。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标定阶段逐级加载</a:t>
            </a:r>
            <a:r>
              <a:rPr dirty="0"/>
              <a:t> 0 到 8 </a:t>
            </a:r>
            <a:r>
              <a:rPr dirty="0" err="1"/>
              <a:t>kg，每点重复三次取平均，拟合得到读数与质量关系。随后修改应变仪灵敏度参数，再用不同质量点测试。测试拟合斜率接近</a:t>
            </a:r>
            <a:r>
              <a:rPr dirty="0"/>
              <a:t> 1，说明标定后的显示值基本对应真实质量。</a:t>
            </a:r>
            <a:br>
              <a:rPr lang="en-US" dirty="0"/>
            </a:br>
            <a:r>
              <a:rPr lang="zh-CN" altLang="zh-CN" dirty="0"/>
              <a:t>这一页展示的是标定和测量数据。左边是标定实验，我们用已知质量逐级加载，每个质量点重复测量三次并取平均，然后将应变仪读数和实际质量做线性拟合。可以看到拟合关系是 \(y=150.4191m+5.8230\)，决定系数 \(R^2=0.99981\)，说明输出读数和质量之间线性关系很好。根据这个斜率，我们把应变仪灵敏度参数从 2.00 修正到约 300.84，使仪器显示值能够直接对应质量。”</a:t>
            </a:r>
            <a:endParaRPr lang="zh-CN" altLang="zh-CN" dirty="0"/>
          </a:p>
          <a:p>
            <a:r>
              <a:rPr lang="zh-CN" altLang="zh-CN" dirty="0"/>
              <a:t>“右边是标定后的测量验证。这里用的是另一组测试点，不参与前面的标定，所以更能反映实际称量效果。拟合结果为显示值 \(=1.0054m+0.0086\)，斜率非常接近 1，截距也接近 0，\(R^2=0.99984\)。这说明标定后电子秤的显示值和真实质量基本是一一对应的，后续最大示值误差为 0.10 kg。</a:t>
            </a: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这一页总结主要误差指标。测试阶段最大示值误差为 </a:t>
            </a:r>
            <a:r>
              <a:rPr lang="en-US" altLang="zh-CN" dirty="0"/>
              <a:t>0.10 kg</a:t>
            </a:r>
            <a:r>
              <a:rPr lang="zh-CN" altLang="en-US" dirty="0"/>
              <a:t>，线性度误差为 </a:t>
            </a:r>
            <a:r>
              <a:rPr lang="en-US" altLang="zh-CN" dirty="0"/>
              <a:t>0.886%</a:t>
            </a:r>
            <a:r>
              <a:rPr lang="zh-CN" altLang="en-US" dirty="0"/>
              <a:t>，重复度误差为 </a:t>
            </a:r>
            <a:r>
              <a:rPr lang="en-US" altLang="zh-CN" dirty="0"/>
              <a:t>1.911%</a:t>
            </a:r>
            <a:r>
              <a:rPr lang="zh-CN" altLang="en-US" dirty="0"/>
              <a:t>。综合评价时控制性误差取最大值，也就是重复度误差，因此精度等级约为 </a:t>
            </a:r>
            <a:r>
              <a:rPr lang="en-US" altLang="zh-CN" dirty="0"/>
              <a:t>2 </a:t>
            </a:r>
            <a:r>
              <a:rPr lang="zh-CN" altLang="en-US" dirty="0"/>
              <a:t>级。误差主要来自固定端非理想固支、贴片位置偏差、偏心加载、平台接触状态变化、电桥零点漂移和胶层迟滞等。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4.jpeg"/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10800000" flipH="1">
            <a:off x="-25189" y="0"/>
            <a:ext cx="12242377" cy="5593503"/>
            <a:chOff x="7933" y="900"/>
            <a:chExt cx="3045065" cy="1620513"/>
          </a:xfrm>
        </p:grpSpPr>
        <p:sp>
          <p:nvSpPr>
            <p:cNvPr id="6" name="Freeform 6"/>
            <p:cNvSpPr/>
            <p:nvPr/>
          </p:nvSpPr>
          <p:spPr>
            <a:xfrm>
              <a:off x="7933" y="900"/>
              <a:ext cx="3045065" cy="1620513"/>
            </a:xfrm>
            <a:prstGeom prst="round1Rect">
              <a:avLst/>
            </a:prstGeom>
            <a:blipFill rotWithShape="0">
              <a:blip r:embed="rId1"/>
              <a:stretch>
                <a:fillRect t="-106000" b="-7700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10800000" flipH="1">
            <a:off x="-180815" y="-48009"/>
            <a:ext cx="12553627" cy="5854968"/>
            <a:chOff x="494503" y="-627298"/>
            <a:chExt cx="4948798" cy="2793004"/>
          </a:xfrm>
        </p:grpSpPr>
        <p:sp>
          <p:nvSpPr>
            <p:cNvPr id="8" name="Freeform 8"/>
            <p:cNvSpPr/>
            <p:nvPr/>
          </p:nvSpPr>
          <p:spPr>
            <a:xfrm>
              <a:off x="557585" y="-608232"/>
              <a:ext cx="4885716" cy="2754872"/>
            </a:xfrm>
            <a:prstGeom prst="round1Rect">
              <a:avLst/>
            </a:prstGeom>
            <a:solidFill>
              <a:srgbClr val="1455A0">
                <a:alpha val="55000"/>
              </a:srgbClr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4503" y="-627298"/>
              <a:ext cx="4865479" cy="2793004"/>
            </a:xfrm>
            <a:prstGeom prst="round1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7280" y="4198578"/>
            <a:ext cx="2213035" cy="501049"/>
            <a:chOff x="0" y="0"/>
            <a:chExt cx="874285" cy="1979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4285" cy="197945"/>
            </a:xfrm>
            <a:custGeom>
              <a:avLst/>
              <a:gdLst/>
              <a:ahLst/>
              <a:cxnLst/>
              <a:rect l="l" t="t" r="r" b="b"/>
              <a:pathLst>
                <a:path w="874285" h="197945">
                  <a:moveTo>
                    <a:pt x="98973" y="0"/>
                  </a:moveTo>
                  <a:lnTo>
                    <a:pt x="775313" y="0"/>
                  </a:lnTo>
                  <a:cubicBezTo>
                    <a:pt x="801562" y="0"/>
                    <a:pt x="826736" y="10427"/>
                    <a:pt x="845297" y="28988"/>
                  </a:cubicBezTo>
                  <a:cubicBezTo>
                    <a:pt x="863858" y="47549"/>
                    <a:pt x="874285" y="72723"/>
                    <a:pt x="874285" y="98973"/>
                  </a:cubicBezTo>
                  <a:lnTo>
                    <a:pt x="874285" y="98973"/>
                  </a:lnTo>
                  <a:cubicBezTo>
                    <a:pt x="874285" y="153634"/>
                    <a:pt x="829974" y="197945"/>
                    <a:pt x="775313" y="197945"/>
                  </a:cubicBezTo>
                  <a:lnTo>
                    <a:pt x="98973" y="197945"/>
                  </a:lnTo>
                  <a:cubicBezTo>
                    <a:pt x="72723" y="197945"/>
                    <a:pt x="47549" y="187518"/>
                    <a:pt x="28988" y="168957"/>
                  </a:cubicBezTo>
                  <a:cubicBezTo>
                    <a:pt x="10427" y="150396"/>
                    <a:pt x="0" y="125222"/>
                    <a:pt x="0" y="98973"/>
                  </a:cubicBezTo>
                  <a:lnTo>
                    <a:pt x="0" y="98973"/>
                  </a:lnTo>
                  <a:cubicBezTo>
                    <a:pt x="0" y="72723"/>
                    <a:pt x="10427" y="47549"/>
                    <a:pt x="28988" y="28988"/>
                  </a:cubicBezTo>
                  <a:cubicBezTo>
                    <a:pt x="47549" y="10427"/>
                    <a:pt x="72723" y="0"/>
                    <a:pt x="989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74285" cy="23604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</a:pPr>
              <a:endParaRPr sz="120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75854" y="203914"/>
            <a:ext cx="2262546" cy="666442"/>
          </a:xfrm>
          <a:custGeom>
            <a:avLst/>
            <a:gdLst/>
            <a:ahLst/>
            <a:cxnLst/>
            <a:rect l="l" t="t" r="r" b="b"/>
            <a:pathLst>
              <a:path w="2629592" h="729500">
                <a:moveTo>
                  <a:pt x="0" y="0"/>
                </a:moveTo>
                <a:lnTo>
                  <a:pt x="2629592" y="0"/>
                </a:lnTo>
                <a:lnTo>
                  <a:pt x="2629592" y="729500"/>
                </a:lnTo>
                <a:lnTo>
                  <a:pt x="0" y="72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864415" y="87694"/>
            <a:ext cx="3352773" cy="4906687"/>
          </a:xfrm>
          <a:custGeom>
            <a:avLst/>
            <a:gdLst/>
            <a:ahLst/>
            <a:cxnLst/>
            <a:rect l="l" t="t" r="r" b="b"/>
            <a:pathLst>
              <a:path w="9876711" h="7360030">
                <a:moveTo>
                  <a:pt x="0" y="0"/>
                </a:moveTo>
                <a:lnTo>
                  <a:pt x="9876710" y="0"/>
                </a:lnTo>
                <a:lnTo>
                  <a:pt x="9876710" y="7360030"/>
                </a:lnTo>
                <a:lnTo>
                  <a:pt x="0" y="7360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</a:blip>
            <a:stretch>
              <a:fillRect l="-1" r="-96388" b="-10575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57464" y="4262557"/>
            <a:ext cx="1912666" cy="342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dirty="0" err="1">
                <a:solidFill>
                  <a:srgbClr val="133B7B"/>
                </a:solidFill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  <a:sym typeface="字由点字美玲体" panose="00020600040101000101" charset="-122"/>
              </a:rPr>
              <a:t>汇报人</a:t>
            </a:r>
            <a:r>
              <a:rPr lang="en-US" sz="2100" dirty="0">
                <a:solidFill>
                  <a:srgbClr val="133B7B"/>
                </a:solidFill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  <a:sym typeface="字由点字美玲体" panose="00020600040101000101" charset="-122"/>
              </a:rPr>
              <a:t>：</a:t>
            </a:r>
            <a:r>
              <a:rPr lang="zh-CN" altLang="en-US" sz="2100" dirty="0">
                <a:solidFill>
                  <a:srgbClr val="133B7B"/>
                </a:solidFill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  <a:sym typeface="字由点字美玲体" panose="00020600040101000101" charset="-122"/>
              </a:rPr>
              <a:t>韩颂义</a:t>
            </a:r>
            <a:endParaRPr lang="en-US" sz="2100" dirty="0">
              <a:solidFill>
                <a:srgbClr val="133B7B"/>
              </a:solidFill>
              <a:latin typeface="汉仪雅酷黑-85J" panose="00020600040101010101" charset="-122"/>
              <a:ea typeface="汉仪雅酷黑-85J" panose="00020600040101010101" charset="-122"/>
              <a:cs typeface="汉仪雅酷黑-85J" panose="00020600040101010101" charset="-122"/>
              <a:sym typeface="字由点字美玲体" panose="00020600040101000101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57464" y="1546629"/>
            <a:ext cx="9208539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375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单悬臂梁简易电子秤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57464" y="2693474"/>
            <a:ext cx="6457361" cy="40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80"/>
              </a:lnSpc>
            </a:pPr>
            <a:r>
              <a:rPr lang="zh-CN" altLang="en-US" sz="2415" dirty="0">
                <a:solidFill>
                  <a:srgbClr val="FFFFFF"/>
                </a:solidFill>
                <a:latin typeface="汉仪润圆-45简" panose="00020600040101010101" charset="-122"/>
                <a:ea typeface="汉仪润圆-45简" panose="00020600040101010101" charset="-122"/>
                <a:cs typeface="字由点字美玲体" panose="00020600040101000101" charset="-122"/>
                <a:sym typeface="字由点字美玲体" panose="00020600040101000101" charset="-122"/>
              </a:rPr>
              <a:t>材料力学创新实验第一组</a:t>
            </a:r>
            <a:endParaRPr lang="zh-CN" altLang="en-US" sz="2415" dirty="0">
              <a:solidFill>
                <a:srgbClr val="FFFFFF"/>
              </a:solidFill>
              <a:latin typeface="汉仪润圆-45简" panose="00020600040101010101" charset="-122"/>
              <a:ea typeface="汉仪润圆-45简" panose="00020600040101010101" charset="-122"/>
              <a:cs typeface="字由点字美玲体" panose="00020600040101000101" charset="-122"/>
              <a:sym typeface="字由点字美玲体" panose="00020600040101000101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15933" y="5816484"/>
            <a:ext cx="7424507" cy="837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95"/>
              </a:lnSpc>
            </a:pPr>
            <a:r>
              <a:rPr lang="en-US" sz="5070" dirty="0">
                <a:solidFill>
                  <a:srgbClr val="1455A0">
                    <a:alpha val="10980"/>
                  </a:srgbClr>
                </a:solidFill>
                <a:latin typeface="汉仪雅酷黑-85J" panose="00020600040101010101" charset="-122"/>
                <a:ea typeface="汉仪雅酷黑-85J" panose="00020600040101010101" charset="-122"/>
                <a:cs typeface="Alarabiya" panose="02060603050605020204"/>
                <a:sym typeface="Alarabiya" panose="02060603050605020204"/>
              </a:rPr>
              <a:t>ZHEJIANG UNIVERSITY</a:t>
            </a:r>
            <a:endParaRPr lang="en-US" sz="5070" dirty="0">
              <a:solidFill>
                <a:srgbClr val="1455A0">
                  <a:alpha val="10980"/>
                </a:srgbClr>
              </a:solidFill>
              <a:latin typeface="汉仪雅酷黑-85J" panose="00020600040101010101" charset="-122"/>
              <a:ea typeface="汉仪雅酷黑-85J" panose="00020600040101010101" charset="-122"/>
              <a:cs typeface="Alarabiya" panose="02060603050605020204"/>
              <a:sym typeface="Alarabiya" panose="02060603050605020204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11244747" y="6235285"/>
            <a:ext cx="545345" cy="101600"/>
            <a:chOff x="0" y="0"/>
            <a:chExt cx="1090689" cy="203200"/>
          </a:xfrm>
          <a:solidFill>
            <a:srgbClr val="1455A0"/>
          </a:solidFill>
        </p:grpSpPr>
        <p:grpSp>
          <p:nvGrpSpPr>
            <p:cNvPr id="3" name="Group 29"/>
            <p:cNvGrpSpPr/>
            <p:nvPr/>
          </p:nvGrpSpPr>
          <p:grpSpPr>
            <a:xfrm>
              <a:off x="0" y="0"/>
              <a:ext cx="203200" cy="203200"/>
              <a:chOff x="0" y="0"/>
              <a:chExt cx="875357" cy="875357"/>
            </a:xfrm>
            <a:grpFill/>
          </p:grpSpPr>
          <p:sp>
            <p:nvSpPr>
              <p:cNvPr id="4" name="Freeform 30"/>
              <p:cNvSpPr/>
              <p:nvPr/>
            </p:nvSpPr>
            <p:spPr>
              <a:xfrm>
                <a:off x="0" y="0"/>
                <a:ext cx="875357" cy="875357"/>
              </a:xfrm>
              <a:custGeom>
                <a:avLst/>
                <a:gdLst/>
                <a:ahLst/>
                <a:cxnLst/>
                <a:rect l="l" t="t" r="r" b="b"/>
                <a:pathLst>
                  <a:path w="875357" h="875357">
                    <a:moveTo>
                      <a:pt x="437679" y="0"/>
                    </a:moveTo>
                    <a:cubicBezTo>
                      <a:pt x="195955" y="0"/>
                      <a:pt x="0" y="195955"/>
                      <a:pt x="0" y="437679"/>
                    </a:cubicBezTo>
                    <a:cubicBezTo>
                      <a:pt x="0" y="679402"/>
                      <a:pt x="195955" y="875357"/>
                      <a:pt x="437679" y="875357"/>
                    </a:cubicBezTo>
                    <a:cubicBezTo>
                      <a:pt x="679402" y="875357"/>
                      <a:pt x="875357" y="679402"/>
                      <a:pt x="875357" y="437679"/>
                    </a:cubicBezTo>
                    <a:cubicBezTo>
                      <a:pt x="875357" y="195955"/>
                      <a:pt x="679402" y="0"/>
                      <a:pt x="437679" y="0"/>
                    </a:cubicBezTo>
                    <a:close/>
                  </a:path>
                </a:pathLst>
              </a:custGeom>
              <a:grpFill/>
              <a:ln>
                <a:solidFill>
                  <a:srgbClr val="1455A0"/>
                </a:solidFill>
              </a:ln>
            </p:spPr>
          </p:sp>
          <p:sp>
            <p:nvSpPr>
              <p:cNvPr id="38" name="TextBox 31"/>
              <p:cNvSpPr txBox="1"/>
              <p:nvPr/>
            </p:nvSpPr>
            <p:spPr>
              <a:xfrm>
                <a:off x="82065" y="43965"/>
                <a:ext cx="711228" cy="749328"/>
              </a:xfrm>
              <a:prstGeom prst="rect">
                <a:avLst/>
              </a:prstGeom>
              <a:grpFill/>
              <a:ln>
                <a:solidFill>
                  <a:srgbClr val="1455A0"/>
                </a:solidFill>
              </a:ln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5"/>
                  </a:lnSpc>
                </a:pPr>
                <a:endParaRPr sz="1200"/>
              </a:p>
            </p:txBody>
          </p:sp>
        </p:grpSp>
        <p:grpSp>
          <p:nvGrpSpPr>
            <p:cNvPr id="39" name="Group 32"/>
            <p:cNvGrpSpPr/>
            <p:nvPr/>
          </p:nvGrpSpPr>
          <p:grpSpPr>
            <a:xfrm>
              <a:off x="443745" y="0"/>
              <a:ext cx="203200" cy="203200"/>
              <a:chOff x="0" y="0"/>
              <a:chExt cx="875357" cy="875357"/>
            </a:xfrm>
            <a:grpFill/>
          </p:grpSpPr>
          <p:sp>
            <p:nvSpPr>
              <p:cNvPr id="40" name="Freeform 33"/>
              <p:cNvSpPr/>
              <p:nvPr/>
            </p:nvSpPr>
            <p:spPr>
              <a:xfrm>
                <a:off x="0" y="0"/>
                <a:ext cx="875357" cy="875357"/>
              </a:xfrm>
              <a:custGeom>
                <a:avLst/>
                <a:gdLst/>
                <a:ahLst/>
                <a:cxnLst/>
                <a:rect l="l" t="t" r="r" b="b"/>
                <a:pathLst>
                  <a:path w="875357" h="875357">
                    <a:moveTo>
                      <a:pt x="437679" y="0"/>
                    </a:moveTo>
                    <a:cubicBezTo>
                      <a:pt x="195955" y="0"/>
                      <a:pt x="0" y="195955"/>
                      <a:pt x="0" y="437679"/>
                    </a:cubicBezTo>
                    <a:cubicBezTo>
                      <a:pt x="0" y="679402"/>
                      <a:pt x="195955" y="875357"/>
                      <a:pt x="437679" y="875357"/>
                    </a:cubicBezTo>
                    <a:cubicBezTo>
                      <a:pt x="679402" y="875357"/>
                      <a:pt x="875357" y="679402"/>
                      <a:pt x="875357" y="437679"/>
                    </a:cubicBezTo>
                    <a:cubicBezTo>
                      <a:pt x="875357" y="195955"/>
                      <a:pt x="679402" y="0"/>
                      <a:pt x="437679" y="0"/>
                    </a:cubicBezTo>
                    <a:close/>
                  </a:path>
                </a:pathLst>
              </a:custGeom>
              <a:grpFill/>
              <a:ln>
                <a:solidFill>
                  <a:srgbClr val="1455A0"/>
                </a:solidFill>
              </a:ln>
            </p:spPr>
          </p:sp>
          <p:sp>
            <p:nvSpPr>
              <p:cNvPr id="41" name="TextBox 34"/>
              <p:cNvSpPr txBox="1"/>
              <p:nvPr/>
            </p:nvSpPr>
            <p:spPr>
              <a:xfrm>
                <a:off x="82065" y="43965"/>
                <a:ext cx="711228" cy="749328"/>
              </a:xfrm>
              <a:prstGeom prst="rect">
                <a:avLst/>
              </a:prstGeom>
              <a:grpFill/>
              <a:ln>
                <a:solidFill>
                  <a:srgbClr val="1455A0"/>
                </a:solidFill>
              </a:ln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5"/>
                  </a:lnSpc>
                </a:pPr>
                <a:endParaRPr sz="1200"/>
              </a:p>
            </p:txBody>
          </p:sp>
        </p:grpSp>
        <p:grpSp>
          <p:nvGrpSpPr>
            <p:cNvPr id="42" name="Group 35"/>
            <p:cNvGrpSpPr/>
            <p:nvPr/>
          </p:nvGrpSpPr>
          <p:grpSpPr>
            <a:xfrm>
              <a:off x="887489" y="0"/>
              <a:ext cx="203200" cy="203200"/>
              <a:chOff x="0" y="0"/>
              <a:chExt cx="875357" cy="875357"/>
            </a:xfrm>
            <a:grpFill/>
          </p:grpSpPr>
          <p:sp>
            <p:nvSpPr>
              <p:cNvPr id="43" name="Freeform 36"/>
              <p:cNvSpPr/>
              <p:nvPr/>
            </p:nvSpPr>
            <p:spPr>
              <a:xfrm>
                <a:off x="0" y="0"/>
                <a:ext cx="875357" cy="875357"/>
              </a:xfrm>
              <a:custGeom>
                <a:avLst/>
                <a:gdLst/>
                <a:ahLst/>
                <a:cxnLst/>
                <a:rect l="l" t="t" r="r" b="b"/>
                <a:pathLst>
                  <a:path w="875357" h="875357">
                    <a:moveTo>
                      <a:pt x="437679" y="0"/>
                    </a:moveTo>
                    <a:cubicBezTo>
                      <a:pt x="195955" y="0"/>
                      <a:pt x="0" y="195955"/>
                      <a:pt x="0" y="437679"/>
                    </a:cubicBezTo>
                    <a:cubicBezTo>
                      <a:pt x="0" y="679402"/>
                      <a:pt x="195955" y="875357"/>
                      <a:pt x="437679" y="875357"/>
                    </a:cubicBezTo>
                    <a:cubicBezTo>
                      <a:pt x="679402" y="875357"/>
                      <a:pt x="875357" y="679402"/>
                      <a:pt x="875357" y="437679"/>
                    </a:cubicBezTo>
                    <a:cubicBezTo>
                      <a:pt x="875357" y="195955"/>
                      <a:pt x="679402" y="0"/>
                      <a:pt x="437679" y="0"/>
                    </a:cubicBezTo>
                    <a:close/>
                  </a:path>
                </a:pathLst>
              </a:custGeom>
              <a:grpFill/>
              <a:ln>
                <a:solidFill>
                  <a:srgbClr val="1455A0"/>
                </a:solidFill>
              </a:ln>
            </p:spPr>
          </p:sp>
          <p:sp>
            <p:nvSpPr>
              <p:cNvPr id="44" name="TextBox 37"/>
              <p:cNvSpPr txBox="1"/>
              <p:nvPr/>
            </p:nvSpPr>
            <p:spPr>
              <a:xfrm>
                <a:off x="82065" y="43965"/>
                <a:ext cx="711228" cy="749328"/>
              </a:xfrm>
              <a:prstGeom prst="rect">
                <a:avLst/>
              </a:prstGeom>
              <a:grpFill/>
              <a:ln>
                <a:solidFill>
                  <a:srgbClr val="1455A0"/>
                </a:solidFill>
              </a:ln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5"/>
                  </a:lnSpc>
                </a:pPr>
                <a:endParaRPr sz="1200"/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4072488" y="4177752"/>
            <a:ext cx="2275418" cy="521875"/>
            <a:chOff x="8425658" y="5696148"/>
            <a:chExt cx="2275418" cy="521875"/>
          </a:xfrm>
        </p:grpSpPr>
        <p:sp>
          <p:nvSpPr>
            <p:cNvPr id="17" name="矩形: 圆角 16"/>
            <p:cNvSpPr/>
            <p:nvPr/>
          </p:nvSpPr>
          <p:spPr>
            <a:xfrm>
              <a:off x="8425659" y="5696148"/>
              <a:ext cx="2275417" cy="521875"/>
            </a:xfrm>
            <a:prstGeom prst="roundRect">
              <a:avLst>
                <a:gd name="adj" fmla="val 50000"/>
              </a:avLst>
            </a:prstGeom>
            <a:solidFill>
              <a:srgbClr val="133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25658" y="5796510"/>
              <a:ext cx="2275417" cy="342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汉仪雅酷黑-85J" panose="00020600040101010101" charset="-122"/>
                  <a:ea typeface="汉仪雅酷黑-85J" panose="00020600040101010101" charset="-122"/>
                  <a:cs typeface="汉仪雅酷黑-85J" panose="00020600040101010101" charset="-122"/>
                  <a:sym typeface="字由点字美玲体" panose="00020600040101000101" charset="-122"/>
                </a:rPr>
                <a:t>2026.6.22</a:t>
              </a:r>
              <a:endParaRPr lang="en-US" sz="2100" dirty="0">
                <a:solidFill>
                  <a:srgbClr val="FFFFFF"/>
                </a:solidFill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  <a:sym typeface="字由点字美玲体" panose="00020600040101000101" charset="-122"/>
              </a:endParaRPr>
            </a:p>
          </p:txBody>
        </p:sp>
      </p:grpSp>
    </p:spTree>
  </p:cSld>
  <p:clrMapOvr>
    <a:masterClrMapping/>
  </p:clrMapOvr>
  <p:transition spd="slow" advClick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5106" y="29303"/>
            <a:ext cx="5142496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2" y="0"/>
            <a:ext cx="4697392" cy="6858000"/>
          </a:xfrm>
          <a:prstGeom prst="rect">
            <a:avLst/>
          </a:prstGeom>
          <a:solidFill>
            <a:srgbClr val="12498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88" y="-132623"/>
            <a:ext cx="3947419" cy="13820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8901" y="2668728"/>
            <a:ext cx="2254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 录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20076" y="3941730"/>
            <a:ext cx="18790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Arial" panose="020B0604020202020204" pitchFamily="34" charset="0"/>
              </a:rPr>
              <a:t>CONTENTS</a:t>
            </a:r>
            <a:endParaRPr lang="zh-CN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20546" y="2927691"/>
            <a:ext cx="254121" cy="405405"/>
            <a:chOff x="872368" y="2932651"/>
            <a:chExt cx="289004" cy="461055"/>
          </a:xfrm>
          <a:solidFill>
            <a:schemeClr val="bg1">
              <a:alpha val="25000"/>
            </a:schemeClr>
          </a:solidFill>
        </p:grpSpPr>
        <p:sp>
          <p:nvSpPr>
            <p:cNvPr id="7" name="梯形 6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梯形 7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梯形 8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flipH="1">
            <a:off x="3311236" y="2927691"/>
            <a:ext cx="254121" cy="405405"/>
            <a:chOff x="872368" y="2932651"/>
            <a:chExt cx="289004" cy="461055"/>
          </a:xfrm>
          <a:solidFill>
            <a:schemeClr val="bg1">
              <a:alpha val="24000"/>
            </a:schemeClr>
          </a:solidFill>
        </p:grpSpPr>
        <p:sp>
          <p:nvSpPr>
            <p:cNvPr id="12" name="梯形 11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梯形 12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梯形 13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555838" y="3738315"/>
            <a:ext cx="3320716" cy="45719"/>
          </a:xfrm>
          <a:prstGeom prst="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5869344" y="857149"/>
            <a:ext cx="5686546" cy="1015663"/>
            <a:chOff x="5399714" y="1249447"/>
            <a:chExt cx="5686546" cy="1015663"/>
          </a:xfrm>
        </p:grpSpPr>
        <p:grpSp>
          <p:nvGrpSpPr>
            <p:cNvPr id="37" name="组合 36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18" name="矩形: 对角圆角 17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20204" pitchFamily="34" charset="0"/>
                    <a:ea typeface="黑体" panose="02010609060101010101" charset="-122"/>
                    <a:cs typeface="Arial" panose="020B0604020202020204" pitchFamily="34" charset="0"/>
                  </a:rPr>
                  <a:t>1</a:t>
                </a:r>
                <a:endParaRPr lang="zh-CN" altLang="en-US" sz="6000" b="1" i="1" dirty="0">
                  <a:latin typeface="Arial" panose="020B0604020202020204" pitchFamily="34" charset="0"/>
                  <a:ea typeface="黑体" panose="02010609060101010101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>
              <a:off x="6388425" y="1380521"/>
              <a:ext cx="46978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charset="-122"/>
                  <a:ea typeface="黑体" panose="02010609060101010101" charset="-122"/>
                </a:rPr>
                <a:t>目的与分工</a:t>
              </a:r>
              <a:endParaRPr lang="zh-CN" altLang="en-US" sz="4800" b="1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869344" y="2230915"/>
            <a:ext cx="5686546" cy="1015663"/>
            <a:chOff x="5399714" y="1249447"/>
            <a:chExt cx="5686546" cy="1015663"/>
          </a:xfrm>
        </p:grpSpPr>
        <p:grpSp>
          <p:nvGrpSpPr>
            <p:cNvPr id="21" name="组合 20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23" name="矩形: 对角圆角 22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20204" pitchFamily="34" charset="0"/>
                    <a:ea typeface="黑体" panose="02010609060101010101" charset="-122"/>
                    <a:cs typeface="Arial" panose="020B0604020202020204" pitchFamily="34" charset="0"/>
                  </a:rPr>
                  <a:t>2</a:t>
                </a:r>
                <a:endParaRPr lang="zh-CN" altLang="en-US" sz="6000" b="1" i="1" dirty="0">
                  <a:latin typeface="Arial" panose="020B0604020202020204" pitchFamily="34" charset="0"/>
                  <a:ea typeface="黑体" panose="02010609060101010101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6388425" y="1380521"/>
              <a:ext cx="46978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charset="-122"/>
                  <a:ea typeface="黑体" panose="02010609060101010101" charset="-122"/>
                </a:rPr>
                <a:t>实验原理方法</a:t>
              </a:r>
              <a:endParaRPr lang="zh-CN" altLang="en-US" sz="4800" b="1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869344" y="3604681"/>
            <a:ext cx="5686546" cy="1015663"/>
            <a:chOff x="5399714" y="1249447"/>
            <a:chExt cx="5686546" cy="1015663"/>
          </a:xfrm>
        </p:grpSpPr>
        <p:grpSp>
          <p:nvGrpSpPr>
            <p:cNvPr id="26" name="组合 25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28" name="矩形: 对角圆角 27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20204" pitchFamily="34" charset="0"/>
                    <a:ea typeface="黑体" panose="02010609060101010101" charset="-122"/>
                    <a:cs typeface="Arial" panose="020B0604020202020204" pitchFamily="34" charset="0"/>
                  </a:rPr>
                  <a:t>3</a:t>
                </a:r>
                <a:endParaRPr lang="zh-CN" altLang="en-US" sz="6000" b="1" i="1" dirty="0">
                  <a:latin typeface="Arial" panose="020B0604020202020204" pitchFamily="34" charset="0"/>
                  <a:ea typeface="黑体" panose="02010609060101010101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6388425" y="1380521"/>
              <a:ext cx="46978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charset="-122"/>
                  <a:ea typeface="黑体" panose="02010609060101010101" charset="-122"/>
                </a:rPr>
                <a:t>实验过程</a:t>
              </a:r>
              <a:endParaRPr lang="zh-CN" altLang="en-US" sz="4800" b="1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869344" y="4978447"/>
            <a:ext cx="5686546" cy="1015663"/>
            <a:chOff x="5399714" y="1249447"/>
            <a:chExt cx="5686546" cy="1015663"/>
          </a:xfrm>
        </p:grpSpPr>
        <p:grpSp>
          <p:nvGrpSpPr>
            <p:cNvPr id="31" name="组合 30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33" name="矩形: 对角圆角 32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20204" pitchFamily="34" charset="0"/>
                    <a:ea typeface="黑体" panose="02010609060101010101" charset="-122"/>
                    <a:cs typeface="Arial" panose="020B0604020202020204" pitchFamily="34" charset="0"/>
                  </a:rPr>
                  <a:t>4</a:t>
                </a:r>
                <a:endParaRPr lang="zh-CN" altLang="en-US" sz="6000" b="1" i="1" dirty="0">
                  <a:latin typeface="Arial" panose="020B0604020202020204" pitchFamily="34" charset="0"/>
                  <a:ea typeface="黑体" panose="02010609060101010101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6388425" y="1380521"/>
              <a:ext cx="46978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charset="-122"/>
                  <a:ea typeface="黑体" panose="02010609060101010101" charset="-122"/>
                </a:rPr>
                <a:t>数据分析与总结</a:t>
              </a:r>
              <a:endParaRPr lang="zh-CN" altLang="en-US" sz="4800" b="1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97034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目的与分工</a:t>
            </a:r>
            <a:endParaRPr lang="zh-CN" sz="28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D8E2F0"/>
          </a:solidFill>
          <a:ln w="0">
            <a:solidFill>
              <a:srgbClr val="D8E2F0"/>
            </a:solidFill>
            <a:prstDash val="solid"/>
          </a:ln>
        </p:spPr>
      </p:sp>
      <p:sp>
        <p:nvSpPr>
          <p:cNvPr id="4" name="矩形: 圆角 3"/>
          <p:cNvSpPr>
            <a:spLocks noGrp="1"/>
          </p:cNvSpPr>
          <p:nvPr/>
        </p:nvSpPr>
        <p:spPr>
          <a:xfrm>
            <a:off x="5881255" y="1640032"/>
            <a:ext cx="6019799" cy="4113068"/>
          </a:xfrm>
          <a:prstGeom prst="roundRect">
            <a:avLst>
              <a:gd name="adj" fmla="val 3077"/>
            </a:avLst>
          </a:prstGeom>
          <a:solidFill>
            <a:srgbClr val="D8E2F0"/>
          </a:solidFill>
          <a:ln w="38100">
            <a:solidFill>
              <a:srgbClr val="D8E2F0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97057" y="2270414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zh-CN" altLang="en-US" sz="2400" b="1" dirty="0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</a:t>
            </a:r>
            <a:endParaRPr sz="2400" b="1" dirty="0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840181"/>
            <a:ext cx="5051714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r>
              <a:rPr sz="2200" dirty="0" err="1">
                <a:sym typeface="+mn-ea"/>
              </a:rPr>
              <a:t>结果</a:t>
            </a:r>
            <a:r>
              <a:rPr sz="2200" b="1" dirty="0" err="1">
                <a:sym typeface="+mn-ea"/>
              </a:rPr>
              <a:t>不受固定位置</a:t>
            </a:r>
            <a:r>
              <a:rPr sz="2200" dirty="0" err="1">
                <a:sym typeface="+mn-ea"/>
              </a:rPr>
              <a:t>和</a:t>
            </a:r>
            <a:r>
              <a:rPr sz="2200" b="1" dirty="0" err="1">
                <a:sym typeface="+mn-ea"/>
              </a:rPr>
              <a:t>挂载位置</a:t>
            </a:r>
            <a:r>
              <a:rPr sz="2200" dirty="0" err="1">
                <a:sym typeface="+mn-ea"/>
              </a:rPr>
              <a:t>影响</a:t>
            </a:r>
            <a:r>
              <a:rPr sz="220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悬臂梁式简易电子秤</a:t>
            </a:r>
            <a:endParaRPr lang="en-US" sz="220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r>
              <a:rPr sz="2200" b="1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应变片布置</a:t>
            </a:r>
            <a:r>
              <a:rPr sz="22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2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全桥组桥</a:t>
            </a:r>
            <a:endParaRPr sz="220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标定</a:t>
            </a:r>
            <a:r>
              <a:rPr lang="zh-CN" altLang="en-US" sz="22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质量与输出信号的关系</a:t>
            </a:r>
            <a:endParaRPr sz="220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分析误差</a:t>
            </a:r>
            <a:r>
              <a:rPr lang="zh-CN" altLang="en-US" sz="22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、确定</a:t>
            </a:r>
            <a:r>
              <a:rPr lang="zh-CN" altLang="en-US" sz="2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精度等级</a:t>
            </a:r>
            <a:r>
              <a:rPr lang="zh-CN" altLang="en-US" sz="22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22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有效量程</a:t>
            </a:r>
            <a:endParaRPr lang="zh-CN" altLang="en-US" sz="22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7223" y="1772517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</a:rPr>
              <a:t>组内分工</a:t>
            </a:r>
            <a:endParaRPr sz="2400" b="1" dirty="0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: 圆角 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19010" y="2479098"/>
            <a:ext cx="4762500" cy="74295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66660" y="2669598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韩颂义</a:t>
            </a:r>
            <a:endParaRPr sz="16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952510" y="2631498"/>
            <a:ext cx="3095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dirty="0" err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总体方案、受力分析、强度校核、论文整理与答辩展示</a:t>
            </a:r>
            <a:endParaRPr sz="1275" b="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: 圆角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619010" y="3450648"/>
            <a:ext cx="4762500" cy="74295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866660" y="3641148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姚珂尔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952510" y="3603048"/>
            <a:ext cx="3095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dirty="0" err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应变片贴片、桥路连接、应变仪调试、参与加载实验和</a:t>
            </a:r>
            <a:r>
              <a:rPr sz="1275" b="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PPT </a:t>
            </a:r>
            <a:r>
              <a:rPr sz="1275" b="0" dirty="0" err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制作</a:t>
            </a:r>
            <a:endParaRPr sz="1275" b="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: 圆角 1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619010" y="4422198"/>
            <a:ext cx="4762500" cy="74295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866660" y="4612698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张雨童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952510" y="4574598"/>
            <a:ext cx="3095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dirty="0" err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标定</a:t>
            </a:r>
            <a:r>
              <a:rPr lang="zh-CN" altLang="en-US" sz="1275" b="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1275" b="0" dirty="0" err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测试数据采集、表格整理、曲线绘制和误差分析</a:t>
            </a:r>
            <a:endParaRPr sz="1275" b="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441614"/>
            <a:ext cx="491836" cy="682336"/>
          </a:xfrm>
          <a:prstGeom prst="rect">
            <a:avLst/>
          </a:prstGeom>
          <a:solidFill>
            <a:srgbClr val="124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D8E2F0"/>
          </a:solidFill>
          <a:ln w="0">
            <a:solidFill>
              <a:srgbClr val="D8E2F0"/>
            </a:solidFill>
            <a:prstDash val="solid"/>
          </a:ln>
        </p:spPr>
      </p:sp>
      <p:sp>
        <p:nvSpPr>
          <p:cNvPr id="24" name="矩形 23"/>
          <p:cNvSpPr/>
          <p:nvPr/>
        </p:nvSpPr>
        <p:spPr>
          <a:xfrm>
            <a:off x="0" y="441614"/>
            <a:ext cx="491836" cy="682336"/>
          </a:xfrm>
          <a:prstGeom prst="rect">
            <a:avLst/>
          </a:prstGeom>
          <a:solidFill>
            <a:srgbClr val="124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497034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理论推导</a:t>
            </a:r>
            <a:endParaRPr sz="28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3070" y="1273810"/>
            <a:ext cx="814578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20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如何在挂载位置和固定位置不同的情况下都能得到相同的读数？</a:t>
            </a:r>
            <a:endParaRPr sz="2200" dirty="0" err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125" y="1853565"/>
            <a:ext cx="7858125" cy="291655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945" y="4864735"/>
            <a:ext cx="2912745" cy="75565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92125" y="5814060"/>
            <a:ext cx="1150048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20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因此，理论上只要测出梁上</a:t>
            </a:r>
            <a:r>
              <a:rPr lang="en-US" altLang="zh-CN" sz="220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20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个不同点处的</a:t>
            </a:r>
            <a:r>
              <a:rPr lang="zh-CN" altLang="en-US" sz="22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应变</a:t>
            </a:r>
            <a:r>
              <a:rPr lang="zh-CN" altLang="en-US" sz="220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及两点之间的</a:t>
            </a:r>
            <a:r>
              <a:rPr lang="zh-CN" altLang="en-US" sz="22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距离</a:t>
            </a:r>
            <a:r>
              <a:rPr lang="zh-CN" altLang="en-US" sz="220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，就可以计算得到载重</a:t>
            </a:r>
            <a:endParaRPr lang="zh-CN" altLang="en-US" sz="2200" dirty="0" err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D8E2F0"/>
          </a:solidFill>
          <a:ln w="0">
            <a:solidFill>
              <a:srgbClr val="D8E2F0"/>
            </a:solidFill>
            <a:prstDash val="solid"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125" y="1305560"/>
            <a:ext cx="3147695" cy="2867660"/>
          </a:xfrm>
          <a:prstGeom prst="roundRect">
            <a:avLst>
              <a:gd name="adj" fmla="val 4800"/>
            </a:avLst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7462520" y="4399280"/>
            <a:ext cx="4316730" cy="8451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spcAft>
                <a:spcPts val="600"/>
              </a:spcAft>
              <a:def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贴四片应变片组成全桥：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  <a:def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让上下表面的拉压应变叠加，提高输出灵敏度；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  <a:def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抵消温度等共同干扰；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  <a:def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减小加载位置变化对称量结果的影响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441614"/>
            <a:ext cx="491836" cy="682336"/>
          </a:xfrm>
          <a:prstGeom prst="rect">
            <a:avLst/>
          </a:prstGeom>
          <a:solidFill>
            <a:srgbClr val="124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497034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贴片方案</a:t>
            </a:r>
            <a:endParaRPr lang="zh-CN" sz="28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95" y="1160780"/>
            <a:ext cx="6261100" cy="2936875"/>
          </a:xfrm>
          <a:prstGeom prst="rect">
            <a:avLst/>
          </a:prstGeom>
        </p:spPr>
      </p:pic>
      <p:pic>
        <p:nvPicPr>
          <p:cNvPr id="19" name="图片 18" descr="2aac7a28f6a756411a3aab5b0bf8fbf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45" y="4166870"/>
            <a:ext cx="6981190" cy="2339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125" y="5774055"/>
            <a:ext cx="3333750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>
            <a:spLocks noGrp="1"/>
          </p:cNvSpPr>
          <p:nvPr/>
        </p:nvSpPr>
        <p:spPr>
          <a:xfrm>
            <a:off x="312397" y="4167296"/>
            <a:ext cx="1697182" cy="1208389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37928" y="4295452"/>
            <a:ext cx="184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10.0 kg</a:t>
            </a:r>
            <a:endParaRPr sz="2850" b="1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37928" y="4866952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强度校核理论最大质量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312397" y="5503841"/>
            <a:ext cx="1697183" cy="121477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2806" y="5704806"/>
            <a:ext cx="1556363" cy="442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 dirty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0--8 kg</a:t>
            </a:r>
            <a:endParaRPr sz="2850" b="1" dirty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2805" y="6237784"/>
            <a:ext cx="1556363" cy="4087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dirty="0" err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实际标定与评价量程</a:t>
            </a:r>
            <a:endParaRPr sz="1200" b="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D8E2F0"/>
          </a:solidFill>
          <a:ln w="0">
            <a:solidFill>
              <a:srgbClr val="D8E2F0"/>
            </a:solidFill>
            <a:prstDash val="solid"/>
          </a:ln>
        </p:spPr>
      </p:sp>
      <p:sp>
        <p:nvSpPr>
          <p:cNvPr id="23" name="矩形 22"/>
          <p:cNvSpPr/>
          <p:nvPr/>
        </p:nvSpPr>
        <p:spPr>
          <a:xfrm>
            <a:off x="0" y="441614"/>
            <a:ext cx="491836" cy="682336"/>
          </a:xfrm>
          <a:prstGeom prst="rect">
            <a:avLst/>
          </a:prstGeom>
          <a:solidFill>
            <a:srgbClr val="124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497034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实验过程</a:t>
            </a:r>
            <a:endParaRPr sz="28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53" y="1325993"/>
            <a:ext cx="2866507" cy="21490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828" y="1315706"/>
            <a:ext cx="2493063" cy="21581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886" y="1325992"/>
            <a:ext cx="2866508" cy="21490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图片 3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"/>
          <a:stretch>
            <a:fillRect/>
          </a:stretch>
        </p:blipFill>
        <p:spPr>
          <a:xfrm>
            <a:off x="2206944" y="4025313"/>
            <a:ext cx="2171078" cy="27007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994" y="4167296"/>
            <a:ext cx="3388471" cy="25513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6" name="组合 35"/>
          <p:cNvGrpSpPr/>
          <p:nvPr/>
        </p:nvGrpSpPr>
        <p:grpSpPr>
          <a:xfrm>
            <a:off x="1551880" y="3510990"/>
            <a:ext cx="422743" cy="422744"/>
            <a:chOff x="2874986" y="3858305"/>
            <a:chExt cx="422743" cy="422744"/>
          </a:xfrm>
          <a:solidFill>
            <a:srgbClr val="1455A0"/>
          </a:solidFill>
        </p:grpSpPr>
        <p:sp>
          <p:nvSpPr>
            <p:cNvPr id="39" name="Shape 1630"/>
            <p:cNvSpPr/>
            <p:nvPr/>
          </p:nvSpPr>
          <p:spPr>
            <a:xfrm>
              <a:off x="2874986" y="3858305"/>
              <a:ext cx="422743" cy="42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marL="0" marR="0" lvl="0" indent="0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735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Placeholder 4"/>
            <p:cNvSpPr txBox="1"/>
            <p:nvPr/>
          </p:nvSpPr>
          <p:spPr>
            <a:xfrm>
              <a:off x="2957786" y="3929225"/>
              <a:ext cx="257140" cy="309052"/>
            </a:xfrm>
            <a:prstGeom prst="rect">
              <a:avLst/>
            </a:prstGeom>
            <a:grpFill/>
          </p:spPr>
          <p:txBody>
            <a:bodyPr vert="horz" lIns="0" tIns="0" rIns="0" bIns="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ts val="14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9200">
                <a:lnSpc>
                  <a:spcPts val="1865"/>
                </a:lnSpc>
                <a:spcBef>
                  <a:spcPts val="1335"/>
                </a:spcBef>
              </a:pPr>
              <a:r>
                <a:rPr lang="id-ID" sz="1465" b="1" dirty="0">
                  <a:solidFill>
                    <a:srgbClr val="FCFCFC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id-ID" sz="1465" b="1" dirty="0">
                <a:solidFill>
                  <a:srgbClr val="FCFCF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2057423" y="3525351"/>
            <a:ext cx="1620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划线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5195626" y="3510990"/>
            <a:ext cx="422743" cy="422744"/>
            <a:chOff x="2874986" y="3858305"/>
            <a:chExt cx="422743" cy="422744"/>
          </a:xfrm>
          <a:solidFill>
            <a:srgbClr val="1455A0"/>
          </a:solidFill>
        </p:grpSpPr>
        <p:sp>
          <p:nvSpPr>
            <p:cNvPr id="47" name="Shape 1630"/>
            <p:cNvSpPr/>
            <p:nvPr/>
          </p:nvSpPr>
          <p:spPr>
            <a:xfrm>
              <a:off x="2874986" y="3858305"/>
              <a:ext cx="422743" cy="42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marL="0" marR="0" lvl="0" indent="0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735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 Placeholder 4"/>
            <p:cNvSpPr txBox="1"/>
            <p:nvPr/>
          </p:nvSpPr>
          <p:spPr>
            <a:xfrm>
              <a:off x="2957786" y="3929225"/>
              <a:ext cx="257140" cy="309052"/>
            </a:xfrm>
            <a:prstGeom prst="rect">
              <a:avLst/>
            </a:prstGeom>
            <a:grpFill/>
          </p:spPr>
          <p:txBody>
            <a:bodyPr vert="horz" lIns="0" tIns="0" rIns="0" bIns="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ts val="14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9200">
                <a:lnSpc>
                  <a:spcPts val="1865"/>
                </a:lnSpc>
                <a:spcBef>
                  <a:spcPts val="1335"/>
                </a:spcBef>
              </a:pPr>
              <a:r>
                <a:rPr lang="en-US" altLang="zh-CN" sz="1465" b="1" dirty="0">
                  <a:solidFill>
                    <a:srgbClr val="FCFCFC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id-ID" sz="1465" b="1" dirty="0">
                <a:solidFill>
                  <a:srgbClr val="FCFCF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5701169" y="3525351"/>
            <a:ext cx="1620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贴片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8957134" y="3510990"/>
            <a:ext cx="422743" cy="422744"/>
            <a:chOff x="2874986" y="3858305"/>
            <a:chExt cx="422743" cy="422744"/>
          </a:xfrm>
          <a:solidFill>
            <a:srgbClr val="1455A0"/>
          </a:solidFill>
        </p:grpSpPr>
        <p:sp>
          <p:nvSpPr>
            <p:cNvPr id="51" name="Shape 1630"/>
            <p:cNvSpPr/>
            <p:nvPr/>
          </p:nvSpPr>
          <p:spPr>
            <a:xfrm>
              <a:off x="2874986" y="3858305"/>
              <a:ext cx="422743" cy="42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marL="0" marR="0" lvl="0" indent="0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735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Text Placeholder 4"/>
            <p:cNvSpPr txBox="1"/>
            <p:nvPr/>
          </p:nvSpPr>
          <p:spPr>
            <a:xfrm>
              <a:off x="2957786" y="3929225"/>
              <a:ext cx="257140" cy="309052"/>
            </a:xfrm>
            <a:prstGeom prst="rect">
              <a:avLst/>
            </a:prstGeom>
            <a:grpFill/>
          </p:spPr>
          <p:txBody>
            <a:bodyPr vert="horz" lIns="0" tIns="0" rIns="0" bIns="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ts val="14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9200">
                <a:lnSpc>
                  <a:spcPts val="1865"/>
                </a:lnSpc>
                <a:spcBef>
                  <a:spcPts val="1335"/>
                </a:spcBef>
              </a:pPr>
              <a:r>
                <a:rPr lang="en-US" altLang="zh-CN" sz="1465" b="1" dirty="0">
                  <a:solidFill>
                    <a:srgbClr val="FCFCFC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id-ID" sz="1465" b="1" dirty="0">
                <a:solidFill>
                  <a:srgbClr val="FCFCF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9462677" y="3525351"/>
            <a:ext cx="1620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连线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460825" y="5938222"/>
            <a:ext cx="422743" cy="422744"/>
            <a:chOff x="2874986" y="3858305"/>
            <a:chExt cx="422743" cy="422744"/>
          </a:xfrm>
          <a:solidFill>
            <a:srgbClr val="1455A0"/>
          </a:solidFill>
        </p:grpSpPr>
        <p:sp>
          <p:nvSpPr>
            <p:cNvPr id="59" name="Shape 1630"/>
            <p:cNvSpPr/>
            <p:nvPr/>
          </p:nvSpPr>
          <p:spPr>
            <a:xfrm>
              <a:off x="2874986" y="3858305"/>
              <a:ext cx="422743" cy="42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marL="0" marR="0" lvl="0" indent="0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735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Text Placeholder 4"/>
            <p:cNvSpPr txBox="1"/>
            <p:nvPr/>
          </p:nvSpPr>
          <p:spPr>
            <a:xfrm>
              <a:off x="2957786" y="3929225"/>
              <a:ext cx="257140" cy="309052"/>
            </a:xfrm>
            <a:prstGeom prst="rect">
              <a:avLst/>
            </a:prstGeom>
            <a:grpFill/>
          </p:spPr>
          <p:txBody>
            <a:bodyPr vert="horz" lIns="0" tIns="0" rIns="0" bIns="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ts val="14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9200">
                <a:lnSpc>
                  <a:spcPts val="1865"/>
                </a:lnSpc>
                <a:spcBef>
                  <a:spcPts val="1335"/>
                </a:spcBef>
              </a:pPr>
              <a:r>
                <a:rPr lang="en-US" sz="1465" b="1" dirty="0">
                  <a:solidFill>
                    <a:srgbClr val="FCFCFC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id-ID" sz="1465" b="1" dirty="0">
                <a:solidFill>
                  <a:srgbClr val="FCFCF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4966368" y="5952583"/>
            <a:ext cx="1620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加载标定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10038979" y="5952583"/>
            <a:ext cx="422743" cy="422744"/>
            <a:chOff x="2874986" y="3858305"/>
            <a:chExt cx="422743" cy="422744"/>
          </a:xfrm>
          <a:solidFill>
            <a:srgbClr val="1455A0"/>
          </a:solidFill>
        </p:grpSpPr>
        <p:sp>
          <p:nvSpPr>
            <p:cNvPr id="67" name="Shape 1630"/>
            <p:cNvSpPr/>
            <p:nvPr/>
          </p:nvSpPr>
          <p:spPr>
            <a:xfrm>
              <a:off x="2874986" y="3858305"/>
              <a:ext cx="422743" cy="42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marL="0" marR="0" lvl="0" indent="0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735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Text Placeholder 4"/>
            <p:cNvSpPr txBox="1"/>
            <p:nvPr/>
          </p:nvSpPr>
          <p:spPr>
            <a:xfrm>
              <a:off x="2957786" y="3929225"/>
              <a:ext cx="257140" cy="309052"/>
            </a:xfrm>
            <a:prstGeom prst="rect">
              <a:avLst/>
            </a:prstGeom>
            <a:grpFill/>
          </p:spPr>
          <p:txBody>
            <a:bodyPr vert="horz" lIns="0" tIns="0" rIns="0" bIns="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ts val="14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 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9200">
                <a:lnSpc>
                  <a:spcPts val="1865"/>
                </a:lnSpc>
                <a:spcBef>
                  <a:spcPts val="1335"/>
                </a:spcBef>
              </a:pPr>
              <a:r>
                <a:rPr lang="en-US" sz="1465" b="1" dirty="0">
                  <a:solidFill>
                    <a:srgbClr val="FCFCFC"/>
                  </a:solidFill>
                  <a:latin typeface="微软雅黑" panose="020B0503020204020204" charset="-122"/>
                  <a:ea typeface="微软雅黑" panose="020B0503020204020204" charset="-122"/>
                </a:rPr>
                <a:t>05</a:t>
              </a:r>
              <a:endParaRPr lang="id-ID" sz="1465" b="1" dirty="0">
                <a:solidFill>
                  <a:srgbClr val="FCFCF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10544522" y="5966944"/>
            <a:ext cx="1620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读数测量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D8E2F0"/>
          </a:solidFill>
          <a:ln w="0">
            <a:solidFill>
              <a:srgbClr val="D8E2F0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934" y="1430482"/>
            <a:ext cx="3943750" cy="3417917"/>
          </a:xfrm>
          <a:prstGeom prst="roundRect">
            <a:avLst>
              <a:gd name="adj" fmla="val 3582"/>
            </a:avLst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745" y="1588961"/>
            <a:ext cx="5565389" cy="3090412"/>
          </a:xfrm>
          <a:prstGeom prst="roundRect">
            <a:avLst>
              <a:gd name="adj" fmla="val 3582"/>
            </a:avLst>
          </a:prstGeom>
        </p:spPr>
      </p:pic>
      <p:sp>
        <p:nvSpPr>
          <p:cNvPr id="6" name="矩形: 圆角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2944" y="5144384"/>
            <a:ext cx="4551218" cy="1106632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28575">
            <a:solidFill>
              <a:srgbClr val="1455A0"/>
            </a:solidFill>
            <a:prstDash val="dash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42326" y="5273839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 err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标定结果</a:t>
            </a:r>
            <a:endParaRPr sz="1500" b="1" dirty="0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296678" y="5638819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 = 150.4191m + 5.8230   R² = 0.99981</a:t>
            </a:r>
            <a:endParaRPr sz="1275" b="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灵敏度参数：2.00 → 300.84</a:t>
            </a:r>
            <a:endParaRPr sz="1275" b="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441614"/>
            <a:ext cx="491836" cy="682336"/>
          </a:xfrm>
          <a:prstGeom prst="rect">
            <a:avLst/>
          </a:prstGeom>
          <a:solidFill>
            <a:srgbClr val="124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497034"/>
            <a:ext cx="908858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标定与测量数据</a:t>
            </a:r>
            <a:endParaRPr lang="zh-CN" altLang="en-US" sz="28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: 圆角 2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653592" y="5144384"/>
            <a:ext cx="4551218" cy="1106632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28575">
            <a:solidFill>
              <a:srgbClr val="1455A0"/>
            </a:solidFill>
            <a:prstDash val="dash"/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02974" y="5273839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00" b="1" dirty="0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</a:t>
            </a:r>
            <a:r>
              <a:rPr sz="1500" b="1" dirty="0" err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1500" b="1" dirty="0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957326" y="5638819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75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1275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275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1.0054m + 0.0086   R² = 0.99984</a:t>
            </a:r>
            <a:endParaRPr lang="en-US" altLang="zh-CN" sz="1275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zh-CN" sz="1275" dirty="0"/>
              <a:t>测试点未参与标定，最大示值误差 0.10 kg</a:t>
            </a:r>
            <a:endParaRPr lang="zh-CN" altLang="en-US" sz="1275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D8E2F0"/>
          </a:solidFill>
          <a:ln w="0">
            <a:solidFill>
              <a:srgbClr val="D8E2F0"/>
            </a:solidFill>
            <a:prstDash val="solid"/>
          </a:ln>
        </p:spPr>
      </p:sp>
      <p:sp>
        <p:nvSpPr>
          <p:cNvPr id="4" name="矩形: 圆角 3"/>
          <p:cNvSpPr>
            <a:spLocks noGrp="1"/>
          </p:cNvSpPr>
          <p:nvPr/>
        </p:nvSpPr>
        <p:spPr>
          <a:xfrm>
            <a:off x="1447798" y="1530927"/>
            <a:ext cx="200025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619248" y="1721427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0.10 kg</a:t>
            </a:r>
            <a:endParaRPr sz="2850" b="1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19248" y="2292927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测试最大示值误差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3915640" y="1530927"/>
            <a:ext cx="200025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087090" y="1721427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0.886%</a:t>
            </a:r>
            <a:endParaRPr sz="28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87090" y="2292927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线性度误差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6293427" y="1530927"/>
            <a:ext cx="200025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64877" y="1721427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1.911%</a:t>
            </a:r>
            <a:endParaRPr sz="28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64877" y="2292927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重复度误差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8698924" y="1530927"/>
            <a:ext cx="200025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870374" y="1721427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2 级</a:t>
            </a:r>
            <a:endParaRPr sz="2850" b="1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70374" y="2292927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综合精度等级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2329" y="3276597"/>
            <a:ext cx="4848185" cy="2682586"/>
          </a:xfrm>
          <a:prstGeom prst="roundRect">
            <a:avLst>
              <a:gd name="adj" fmla="val 4615"/>
            </a:avLst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6800850" y="3430824"/>
            <a:ext cx="2588765" cy="3135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dirty="0" err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主要误差来源</a:t>
            </a:r>
            <a:endParaRPr sz="2000" b="1" dirty="0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0" y="441614"/>
            <a:ext cx="491836" cy="682336"/>
          </a:xfrm>
          <a:prstGeom prst="rect">
            <a:avLst/>
          </a:prstGeom>
          <a:solidFill>
            <a:srgbClr val="124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497034"/>
            <a:ext cx="908858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结果与误差</a:t>
            </a:r>
            <a:endParaRPr lang="zh-CN" altLang="en-US" sz="28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00851" y="3889758"/>
            <a:ext cx="47122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固定端夹持并非理想固支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贴片位置与上下表面对正误差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砝码偏心加载、平台接触状态变化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电桥零点漂移、仪器分辨率与随机噪声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胶层迟滞导致升卸载回程差</a:t>
            </a:r>
            <a:endParaRPr lang="en-US" altLang="zh-CN" dirty="0"/>
          </a:p>
          <a:p>
            <a:r>
              <a:rPr lang="en-US" altLang="zh-CN" dirty="0"/>
              <a:t>……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D8E2F0"/>
          </a:solidFill>
          <a:ln w="0">
            <a:solidFill>
              <a:srgbClr val="D8E2F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5847" y="148715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dirty="0" err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主要成果</a:t>
            </a:r>
            <a:endParaRPr sz="2250" b="1" dirty="0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780597" y="1972925"/>
            <a:ext cx="4953000" cy="2667000"/>
          </a:xfrm>
          <a:prstGeom prst="roundRect">
            <a:avLst>
              <a:gd name="adj" fmla="val 4286"/>
            </a:avLst>
          </a:prstGeom>
          <a:solidFill>
            <a:srgbClr val="F7FBFF"/>
          </a:solidFill>
          <a:ln w="9525">
            <a:solidFill>
              <a:srgbClr val="C9DAF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58404" y="1490663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dirty="0" err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改进方向</a:t>
            </a:r>
            <a:endParaRPr sz="2250" b="1" dirty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6458403" y="1966914"/>
            <a:ext cx="4850493" cy="2667000"/>
          </a:xfrm>
          <a:prstGeom prst="roundRect">
            <a:avLst>
              <a:gd name="adj" fmla="val 4286"/>
            </a:avLst>
          </a:prstGeom>
          <a:solidFill>
            <a:srgbClr val="F8FFFB"/>
          </a:solidFill>
          <a:ln w="9525">
            <a:solidFill>
              <a:srgbClr val="BFE7DD"/>
            </a:solidFill>
            <a:prstDash val="solid"/>
          </a:ln>
        </p:spPr>
      </p:sp>
      <p:sp>
        <p:nvSpPr>
          <p:cNvPr id="21" name="矩形: 圆角 20"/>
          <p:cNvSpPr>
            <a:spLocks noGrp="1"/>
          </p:cNvSpPr>
          <p:nvPr/>
        </p:nvSpPr>
        <p:spPr>
          <a:xfrm>
            <a:off x="1278164" y="5032488"/>
            <a:ext cx="2000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449614" y="5203938"/>
            <a:ext cx="1657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0--8 kg</a:t>
            </a:r>
            <a:endParaRPr sz="27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49614" y="5756388"/>
            <a:ext cx="1657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实际有效量程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3659414" y="5032488"/>
            <a:ext cx="2000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830864" y="5203938"/>
            <a:ext cx="1657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0.10 kg</a:t>
            </a:r>
            <a:endParaRPr sz="2700" b="1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830864" y="5756388"/>
            <a:ext cx="1657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最大示值误差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: 圆角 32"/>
          <p:cNvSpPr>
            <a:spLocks noGrp="1"/>
          </p:cNvSpPr>
          <p:nvPr/>
        </p:nvSpPr>
        <p:spPr>
          <a:xfrm>
            <a:off x="6516914" y="5032488"/>
            <a:ext cx="2000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688364" y="5203938"/>
            <a:ext cx="1657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1.911%</a:t>
            </a:r>
            <a:endParaRPr sz="27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88364" y="5756388"/>
            <a:ext cx="1657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控制性误差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: 圆角 38"/>
          <p:cNvSpPr>
            <a:spLocks noGrp="1"/>
          </p:cNvSpPr>
          <p:nvPr/>
        </p:nvSpPr>
        <p:spPr>
          <a:xfrm>
            <a:off x="8898164" y="5032488"/>
            <a:ext cx="2000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069614" y="5203938"/>
            <a:ext cx="1657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45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2 级</a:t>
            </a:r>
            <a:endParaRPr sz="2700" b="1">
              <a:solidFill>
                <a:srgbClr val="1455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069614" y="5756388"/>
            <a:ext cx="1657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综合精度等级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0" y="441614"/>
            <a:ext cx="491836" cy="682336"/>
          </a:xfrm>
          <a:prstGeom prst="rect">
            <a:avLst/>
          </a:prstGeom>
          <a:solidFill>
            <a:srgbClr val="124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09600" y="497034"/>
            <a:ext cx="908858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主要成果与改进方向</a:t>
            </a:r>
            <a:endParaRPr lang="zh-CN" altLang="en-US" sz="28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02154" y="2258675"/>
            <a:ext cx="470988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完成电子秤的设计、制作与标定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四片应变片全桥接法，提高输出灵敏度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强度校核表明理论最大质量约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10.0 kg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确定实际有效量程为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0--8.0 kg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标定与测试线性良好，精度等级约为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级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717850" y="2359477"/>
            <a:ext cx="4656362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提高夹具刚度，减小固定端误差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优化载物平台导向，降低偏心加载影响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提高贴片定位精度，保证上下表面对正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加强引线与桥路稳定性，减小零点漂移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增加重复测量，并进一步进行温度补偿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978928" y="2921168"/>
            <a:ext cx="910698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b="1" spc="3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恳请老师同学批评指正！</a:t>
            </a:r>
            <a:endParaRPr lang="en-US" altLang="zh-CN" sz="6000" b="1" spc="3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247262" y="5104229"/>
            <a:ext cx="4045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材料力学创新实验第一组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11.5,&quot;left&quot;:521.1818897637795,&quot;top&quot;:195.20456692913385,&quot;width&quot;:375}"/>
</p:tagLst>
</file>

<file path=ppt/tags/tag2.xml><?xml version="1.0" encoding="utf-8"?>
<p:tagLst xmlns:p="http://schemas.openxmlformats.org/presentationml/2006/main">
  <p:tag name="KSO_WM_DIAGRAM_VIRTUALLY_FRAME" val="{&quot;height&quot;:211.5,&quot;left&quot;:521.1818897637795,&quot;top&quot;:195.20456692913385,&quot;width&quot;:375}"/>
</p:tagLst>
</file>

<file path=ppt/tags/tag3.xml><?xml version="1.0" encoding="utf-8"?>
<p:tagLst xmlns:p="http://schemas.openxmlformats.org/presentationml/2006/main">
  <p:tag name="KSO_WM_DIAGRAM_VIRTUALLY_FRAME" val="{&quot;height&quot;:211.5,&quot;left&quot;:521.1818897637795,&quot;top&quot;:195.20456692913385,&quot;width&quot;:375}"/>
</p:tagLst>
</file>

<file path=ppt/tags/tag4.xml><?xml version="1.0" encoding="utf-8"?>
<p:tagLst xmlns:p="http://schemas.openxmlformats.org/presentationml/2006/main">
  <p:tag name="KSO_WM_DIAGRAM_VIRTUALLY_FRAME" val="{&quot;height&quot;:211.5,&quot;left&quot;:521.1818897637795,&quot;top&quot;:195.20456692913385,&quot;width&quot;:375}"/>
</p:tagLst>
</file>

<file path=ppt/tags/tag5.xml><?xml version="1.0" encoding="utf-8"?>
<p:tagLst xmlns:p="http://schemas.openxmlformats.org/presentationml/2006/main">
  <p:tag name="KSO_WM_DIAGRAM_VIRTUALLY_FRAME" val="{&quot;height&quot;:211.5,&quot;left&quot;:521.1818897637795,&quot;top&quot;:195.20456692913385,&quot;width&quot;:375}"/>
</p:tagLst>
</file>

<file path=ppt/tags/tag6.xml><?xml version="1.0" encoding="utf-8"?>
<p:tagLst xmlns:p="http://schemas.openxmlformats.org/presentationml/2006/main">
  <p:tag name="KSO_WM_DIAGRAM_VIRTUALLY_FRAME" val="{&quot;height&quot;:211.5,&quot;left&quot;:521.1818897637795,&quot;top&quot;:195.20456692913385,&quot;width&quot;:375}"/>
</p:tagLst>
</file>

<file path=ppt/tags/tag7.xml><?xml version="1.0" encoding="utf-8"?>
<p:tagLst xmlns:p="http://schemas.openxmlformats.org/presentationml/2006/main">
  <p:tag name="KSO_WM_DIAGRAM_VIRTUALLY_FRAME" val="{&quot;height&quot;:211.5,&quot;left&quot;:521.1818897637795,&quot;top&quot;:195.20456692913385,&quot;width&quot;:375}"/>
</p:tagLst>
</file>

<file path=ppt/tags/tag8.xml><?xml version="1.0" encoding="utf-8"?>
<p:tagLst xmlns:p="http://schemas.openxmlformats.org/presentationml/2006/main">
  <p:tag name="KSO_WM_DIAGRAM_VIRTUALLY_FRAME" val="{&quot;height&quot;:211.5,&quot;left&quot;:521.1818897637795,&quot;top&quot;:195.20456692913385,&quot;width&quot;:375}"/>
</p:tagLst>
</file>

<file path=ppt/tags/tag9.xml><?xml version="1.0" encoding="utf-8"?>
<p:tagLst xmlns:p="http://schemas.openxmlformats.org/presentationml/2006/main">
  <p:tag name="KSO_WM_DIAGRAM_VIRTUALLY_FRAME" val="{&quot;height&quot;:211.5,&quot;left&quot;:521.1818897637795,&quot;top&quot;:195.20456692913385,&quot;width&quot;:375}"/>
</p:tagLst>
</file>

<file path=ppt/tags/tag10.xml><?xml version="1.0" encoding="utf-8"?>
<p:tagLst xmlns:p="http://schemas.openxmlformats.org/presentationml/2006/main">
  <p:tag name="KSO_WM_DIAGRAM_VIRTUALLY_FRAME" val="{&quot;height&quot;:87.13637795275591,&quot;left&quot;:78.18456692913387,&quot;top&quot;:405.0696062992126,&quot;width&quot;:804.083937007874}"/>
</p:tagLst>
</file>

<file path=ppt/tags/tag11.xml><?xml version="1.0" encoding="utf-8"?>
<p:tagLst xmlns:p="http://schemas.openxmlformats.org/presentationml/2006/main">
  <p:tag name="KSO_WM_DIAGRAM_VIRTUALLY_FRAME" val="{&quot;height&quot;:87.13637795275591,&quot;left&quot;:78.18456692913387,&quot;top&quot;:405.0696062992126,&quot;width&quot;:804.083937007874}"/>
</p:tagLst>
</file>

<file path=ppt/tags/tag12.xml><?xml version="1.0" encoding="utf-8"?>
<p:tagLst xmlns:p="http://schemas.openxmlformats.org/presentationml/2006/main">
  <p:tag name="KSO_WM_DIAGRAM_VIRTUALLY_FRAME" val="{&quot;height&quot;:87.13637795275591,&quot;left&quot;:78.18456692913387,&quot;top&quot;:405.0696062992126,&quot;width&quot;:804.083937007874}"/>
</p:tagLst>
</file>

<file path=ppt/tags/tag13.xml><?xml version="1.0" encoding="utf-8"?>
<p:tagLst xmlns:p="http://schemas.openxmlformats.org/presentationml/2006/main">
  <p:tag name="KSO_WM_DIAGRAM_VIRTUALLY_FRAME" val="{&quot;height&quot;:87.13637795275591,&quot;left&quot;:78.18456692913387,&quot;top&quot;:405.0696062992126,&quot;width&quot;:804.083937007874}"/>
</p:tagLst>
</file>

<file path=ppt/tags/tag14.xml><?xml version="1.0" encoding="utf-8"?>
<p:tagLst xmlns:p="http://schemas.openxmlformats.org/presentationml/2006/main">
  <p:tag name="KSO_WM_DIAGRAM_VIRTUALLY_FRAME" val="{&quot;height&quot;:87.13637795275591,&quot;left&quot;:78.18456692913387,&quot;top&quot;:405.0696062992126,&quot;width&quot;:804.083937007874}"/>
</p:tagLst>
</file>

<file path=ppt/tags/tag15.xml><?xml version="1.0" encoding="utf-8"?>
<p:tagLst xmlns:p="http://schemas.openxmlformats.org/presentationml/2006/main">
  <p:tag name="KSO_WM_DIAGRAM_VIRTUALLY_FRAME" val="{&quot;height&quot;:87.13637795275591,&quot;left&quot;:78.18456692913387,&quot;top&quot;:405.0696062992126,&quot;width&quot;:804.083937007874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WPS 演示</Application>
  <PresentationFormat>宽屏</PresentationFormat>
  <Paragraphs>176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宋体</vt:lpstr>
      <vt:lpstr>Wingdings</vt:lpstr>
      <vt:lpstr>汉仪雅酷黑-85J</vt:lpstr>
      <vt:lpstr>黑体</vt:lpstr>
      <vt:lpstr>字由点字美玲体</vt:lpstr>
      <vt:lpstr>微软雅黑</vt:lpstr>
      <vt:lpstr>汉仪润圆-45简</vt:lpstr>
      <vt:lpstr>Alarabiya</vt:lpstr>
      <vt:lpstr>Segoe UI Light</vt:lpstr>
      <vt:lpstr>微软雅黑 Light</vt:lpstr>
      <vt:lpstr>Open Sans</vt:lpstr>
      <vt:lpstr>Segoe Print</vt:lpstr>
      <vt:lpstr>Open Sans</vt:lpstr>
      <vt:lpstr>AMGDT</vt:lpstr>
      <vt:lpstr>Open Sans </vt:lpstr>
      <vt:lpstr>Calibri</vt:lpstr>
      <vt:lpstr>Arial Unicode MS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韩颂义</cp:lastModifiedBy>
  <cp:revision>7</cp:revision>
  <dcterms:created xsi:type="dcterms:W3CDTF">2026-06-19T15:15:00Z</dcterms:created>
  <dcterms:modified xsi:type="dcterms:W3CDTF">2026-06-22T03:31:41Z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147F7E15039448DCA204A69D47922DF2_12</vt:lpwstr>
  </property>
  <property fmtid="{D5CDD505-2E9C-101B-9397-08002B2CF9AE}" pid="3" name="KSOProductBuildVer">
    <vt:lpwstr>2052-12.1.0.23542</vt:lpwstr>
  </property>
</Properties>
</file>